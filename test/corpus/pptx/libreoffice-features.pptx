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1" sz="2160" spc="-1" strike="noStrike">
                <a:solidFill>
                  <a:srgbClr val="000000"/>
                </a:solidFill>
                <a:latin typeface="Calibri"/>
              </a:defRPr>
            </a:pPr>
            <a:r>
              <a:rPr b="1" sz="2160" spc="-1" strike="noStrike">
                <a:solidFill>
                  <a:srgbClr val="000000"/>
                </a:solidFill>
                <a:latin typeface="Calibri"/>
              </a:rPr>
              <a:t>Sales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4f81bd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3</c:v>
                </c:pt>
                <c:pt idx="1">
                  <c:v>5</c:v>
                </c:pt>
                <c:pt idx="2">
                  <c:v>4</c:v>
                </c:pt>
              </c:numCache>
            </c:numRef>
          </c:val>
        </c:ser>
        <c:gapWidth val="150"/>
        <c:overlap val="0"/>
        <c:axId val="92919262"/>
        <c:axId val="74447831"/>
      </c:barChart>
      <c:catAx>
        <c:axId val="92919262"/>
        <c:scaling>
          <c:orientation val="minMax"/>
        </c:scaling>
        <c:delete val="0"/>
        <c:axPos val="b"/>
        <c:numFmt formatCode="[$-409]mm/dd/yyyy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800" spc="-1" strike="noStrike">
                <a:solidFill>
                  <a:srgbClr val="000000"/>
                </a:solidFill>
                <a:latin typeface="Calibri"/>
              </a:defRPr>
            </a:pPr>
          </a:p>
        </c:txPr>
        <c:crossAx val="74447831"/>
        <c:crosses val="autoZero"/>
        <c:auto val="1"/>
        <c:lblAlgn val="ctr"/>
        <c:lblOffset val="100"/>
        <c:noMultiLvlLbl val="0"/>
      </c:catAx>
      <c:valAx>
        <c:axId val="74447831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800" spc="-1" strike="noStrike">
                <a:solidFill>
                  <a:srgbClr val="000000"/>
                </a:solidFill>
                <a:latin typeface="Calibri"/>
              </a:defRPr>
            </a:pPr>
          </a:p>
        </c:txPr>
        <c:crossAx val="92919262"/>
        <c:crosses val="autoZero"/>
        <c:crossBetween val="between"/>
      </c:valAx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1FDBA30F-106D-4651-A555-6051D5D4B522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Speaker notes on the title slide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BF47BE4-0419-43F8-8CF0-6642696E978C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AB3F729-550E-4E69-B06C-26DBFD1E370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29A29AC-A6BD-4356-9799-B97F64C3CF2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705FE38B-17C3-446F-8FEC-FD16DFDD464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7B3962F3-614A-4183-9235-90CF030DC08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1F3A8850-FA57-475E-868B-30EE8690AC1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B33B9CDC-D55B-4E14-A38B-55324CB7AC4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BC59CBCE-745E-41C4-B859-C03E40A248E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B339A50B-D664-46AD-A034-EC065B94686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A314210B-C404-405E-9925-F4C2C7FDD20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91E83749-1457-4F93-B95C-1C608FA6DAE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42005226-82F5-4EEC-A574-0A56386CAC2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DBC6925-BA67-44F9-9CAF-C46970C344F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26DA25E-AAE2-4358-B3C0-516A4168A29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FFBAC41-0B2A-4B4D-BAD9-DE45DC780D2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9B88A77-0E04-4A2C-9D7D-C8E19EF1A1B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934D3AC-DF0D-40ED-83CA-5EA409A2A11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16567EE-3321-4194-8F87-09D3A175011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AD65CD2-B407-4BDC-AB52-0C9FBC2AE7A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C7C5A27-1B0B-41DB-BD70-1932509CF30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83B1130-A563-4600-996E-0525F5FF56B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014D83E-C43A-4F44-9622-9E02B869B47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BECD838-619C-4231-9426-EFA17B10350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8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Corpus deck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Generated for round-trip tests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Bullets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2060a0"/>
              </a:buClr>
              <a:buFont typeface="Arial"/>
              <a:buChar char="•"/>
            </a:pPr>
            <a:r>
              <a:rPr b="1" lang="en-US" sz="2800" spc="-1" strike="noStrike">
                <a:solidFill>
                  <a:srgbClr val="2060a0"/>
                </a:solidFill>
                <a:latin typeface="Calibri"/>
              </a:rPr>
              <a:t>First point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point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Sub point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Shapes and picture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8" name="Rectangle 2"/>
          <p:cNvSpPr/>
          <p:nvPr/>
        </p:nvSpPr>
        <p:spPr>
          <a:xfrm>
            <a:off x="457200" y="1828800"/>
            <a:ext cx="1828440" cy="914040"/>
          </a:xfrm>
          <a:prstGeom prst="rect">
            <a:avLst/>
          </a:prstGeom>
          <a:gradFill rotWithShape="0">
            <a:gsLst>
              <a:gs pos="0">
                <a:srgbClr val="3e7fcc"/>
              </a:gs>
              <a:gs pos="100000">
                <a:srgbClr val="a4c1ff"/>
              </a:gs>
            </a:gsLst>
            <a:lin ang="16200000"/>
          </a:gra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9" name="Oval 3"/>
          <p:cNvSpPr/>
          <p:nvPr/>
        </p:nvSpPr>
        <p:spPr>
          <a:xfrm>
            <a:off x="2743200" y="1828800"/>
            <a:ext cx="1828440" cy="914040"/>
          </a:xfrm>
          <a:prstGeom prst="ellipse">
            <a:avLst/>
          </a:prstGeom>
          <a:gradFill rotWithShape="0">
            <a:gsLst>
              <a:gs pos="0">
                <a:srgbClr val="3e7fcc"/>
              </a:gs>
              <a:gs pos="100000">
                <a:srgbClr val="a4c1ff"/>
              </a:gs>
            </a:gsLst>
            <a:lin ang="16200000"/>
          </a:gra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0" name="Right Arrow 4"/>
          <p:cNvSpPr/>
          <p:nvPr/>
        </p:nvSpPr>
        <p:spPr>
          <a:xfrm>
            <a:off x="5029200" y="1828800"/>
            <a:ext cx="1828440" cy="91404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3e7fcc"/>
              </a:gs>
              <a:gs pos="100000">
                <a:srgbClr val="a4c1ff"/>
              </a:gs>
            </a:gsLst>
            <a:lin ang="16200000"/>
          </a:gra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81" name="Picture 5" descr="image.png"/>
          <p:cNvPicPr/>
          <p:nvPr/>
        </p:nvPicPr>
        <p:blipFill>
          <a:blip r:embed="rId1"/>
          <a:stretch/>
        </p:blipFill>
        <p:spPr>
          <a:xfrm>
            <a:off x="914400" y="3657600"/>
            <a:ext cx="1828440" cy="1371240"/>
          </a:xfrm>
          <a:prstGeom prst="rect">
            <a:avLst/>
          </a:prstGeom>
          <a:ln w="0">
            <a:noFill/>
          </a:ln>
        </p:spPr>
      </p:pic>
      <p:sp>
        <p:nvSpPr>
          <p:cNvPr id="82" name="TextBox 6"/>
          <p:cNvSpPr/>
          <p:nvPr/>
        </p:nvSpPr>
        <p:spPr>
          <a:xfrm>
            <a:off x="4717440" y="3657600"/>
            <a:ext cx="15375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A free text box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Chart and table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graphicFrame>
        <p:nvGraphicFramePr>
          <p:cNvPr id="84" name="Chart 2"/>
          <p:cNvGraphicFramePr/>
          <p:nvPr/>
        </p:nvGraphicFramePr>
        <p:xfrm>
          <a:off x="457200" y="1371600"/>
          <a:ext cx="3657240" cy="2742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85" name="Table 3"/>
          <p:cNvGraphicFramePr/>
          <p:nvPr/>
        </p:nvGraphicFramePr>
        <p:xfrm>
          <a:off x="4572000" y="1371600"/>
          <a:ext cx="3657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</a:tblGrid>
              <a:tr h="4572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A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endParaRPr b="0" lang="en-US" sz="1800" spc="-1" strike="noStrike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D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